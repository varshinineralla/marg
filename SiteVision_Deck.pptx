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256032" y="256032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1734495" y="256032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6032" y="6400800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734495" y="6400800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2920" y="29260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B3121B"/>
                </a:solidFill>
                <a:latin typeface="Consolas"/>
              </a:rPr>
              <a:t>SITEVISION  </a:t>
            </a:r>
            <a:r>
              <a:rPr sz="1100">
                <a:solidFill>
                  <a:srgbClr val="6B6664"/>
                </a:solidFill>
                <a:latin typeface="Consolas"/>
              </a:rPr>
              <a:t>· by SiteSureLabs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80779" y="292608"/>
            <a:ext cx="110799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dirty="0">
                <a:solidFill>
                  <a:srgbClr val="6B6664"/>
                </a:solidFill>
                <a:latin typeface="Consolas"/>
              </a:rPr>
              <a:t>INTRODUCTION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914400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3121B"/>
                </a:solidFill>
                <a:latin typeface="Consolas"/>
              </a:rPr>
              <a:t>BACKGROUND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234440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dirty="0">
                <a:solidFill>
                  <a:srgbClr val="141414"/>
                </a:solidFill>
                <a:latin typeface="Arial"/>
              </a:rPr>
              <a:t>We rely on </a:t>
            </a:r>
            <a:r>
              <a:rPr sz="3000" b="1" dirty="0" err="1">
                <a:solidFill>
                  <a:srgbClr val="141414"/>
                </a:solidFill>
                <a:latin typeface="Arial"/>
              </a:rPr>
              <a:t>Constra</a:t>
            </a:r>
            <a:r>
              <a:rPr sz="3000" b="1" dirty="0">
                <a:solidFill>
                  <a:srgbClr val="141414"/>
                </a:solidFill>
                <a:latin typeface="Arial"/>
              </a:rPr>
              <a:t> &amp; </a:t>
            </a:r>
            <a:r>
              <a:rPr sz="3000" b="1" dirty="0" err="1">
                <a:solidFill>
                  <a:srgbClr val="141414"/>
                </a:solidFill>
                <a:latin typeface="Arial"/>
              </a:rPr>
              <a:t>Sitepace</a:t>
            </a:r>
            <a:r>
              <a:rPr sz="3000" b="1" dirty="0">
                <a:solidFill>
                  <a:srgbClr val="141414"/>
                </a:solidFill>
                <a:latin typeface="Arial"/>
              </a:rPr>
              <a:t> for 360° tours. Why?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1488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B6664"/>
                </a:solidFill>
                <a:latin typeface="Arial"/>
              </a:rPr>
              <a:t>Two external vendors handle our virtual walkthroughs today — recurring cost, no control over the workflow, and data locked outside our systems.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464" y="2880360"/>
            <a:ext cx="3545738" cy="30480"/>
          </a:xfrm>
          <a:prstGeom prst="rect">
            <a:avLst/>
          </a:prstGeom>
          <a:solidFill>
            <a:srgbClr val="B3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1" y="2990088"/>
            <a:ext cx="354573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1414"/>
                </a:solidFill>
                <a:latin typeface="Arial"/>
              </a:rPr>
              <a:t>Objective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1" y="3383280"/>
            <a:ext cx="3545738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dirty="0">
                <a:solidFill>
                  <a:srgbClr val="141414"/>
                </a:solidFill>
                <a:latin typeface="Arial"/>
              </a:rPr>
              <a:t>•  Bring 360° tours fully in-house</a:t>
            </a:r>
          </a:p>
          <a:p>
            <a:pPr>
              <a:spcAft>
                <a:spcPts val="600"/>
              </a:spcAft>
            </a:pPr>
            <a:r>
              <a:rPr sz="1250" dirty="0">
                <a:solidFill>
                  <a:srgbClr val="141414"/>
                </a:solidFill>
                <a:latin typeface="Arial"/>
              </a:rPr>
              <a:t>•  Drop dependency on </a:t>
            </a:r>
            <a:r>
              <a:rPr sz="1250" dirty="0" err="1">
                <a:solidFill>
                  <a:srgbClr val="141414"/>
                </a:solidFill>
                <a:latin typeface="Arial"/>
              </a:rPr>
              <a:t>Constra</a:t>
            </a:r>
            <a:r>
              <a:rPr sz="1250" dirty="0">
                <a:solidFill>
                  <a:srgbClr val="141414"/>
                </a:solidFill>
                <a:latin typeface="Arial"/>
              </a:rPr>
              <a:t> &amp; </a:t>
            </a:r>
            <a:r>
              <a:rPr sz="1250" dirty="0" err="1">
                <a:solidFill>
                  <a:srgbClr val="141414"/>
                </a:solidFill>
                <a:latin typeface="Arial"/>
              </a:rPr>
              <a:t>Sitepace</a:t>
            </a:r>
            <a:endParaRPr sz="1250" dirty="0">
              <a:solidFill>
                <a:srgbClr val="141414"/>
              </a:solidFill>
              <a:latin typeface="Arial"/>
            </a:endParaRPr>
          </a:p>
          <a:p>
            <a:pPr>
              <a:spcAft>
                <a:spcPts val="600"/>
              </a:spcAft>
            </a:pPr>
            <a:r>
              <a:rPr sz="1250" dirty="0">
                <a:solidFill>
                  <a:srgbClr val="141414"/>
                </a:solidFill>
                <a:latin typeface="Arial"/>
              </a:rPr>
              <a:t>•  Own the workflow, data, and cost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9522" y="2880360"/>
            <a:ext cx="3545738" cy="30480"/>
          </a:xfrm>
          <a:prstGeom prst="rect">
            <a:avLst/>
          </a:prstGeom>
          <a:solidFill>
            <a:srgbClr val="B3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22979" y="2990088"/>
            <a:ext cx="354573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1414"/>
                </a:solidFill>
                <a:latin typeface="Arial"/>
              </a:rPr>
              <a:t>Solution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2979" y="3383280"/>
            <a:ext cx="3545738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141414"/>
                </a:solidFill>
                <a:latin typeface="Arial"/>
              </a:rPr>
              <a:t>•  SiteVision replaces both vendors end-to-end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41414"/>
                </a:solidFill>
                <a:latin typeface="Arial"/>
              </a:rPr>
              <a:t>•  Built around our own floor plans, pins &amp; roles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41414"/>
                </a:solidFill>
                <a:latin typeface="Arial"/>
              </a:rPr>
              <a:t>•  Publish once — browse from any device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59580" y="2880360"/>
            <a:ext cx="3545738" cy="30480"/>
          </a:xfrm>
          <a:prstGeom prst="rect">
            <a:avLst/>
          </a:prstGeom>
          <a:solidFill>
            <a:srgbClr val="B3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43037" y="2990088"/>
            <a:ext cx="354573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1414"/>
                </a:solidFill>
                <a:latin typeface="Arial"/>
              </a:rPr>
              <a:t>Current Status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43036" y="3383280"/>
            <a:ext cx="3905529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dirty="0">
                <a:solidFill>
                  <a:srgbClr val="141414"/>
                </a:solidFill>
                <a:latin typeface="Arial"/>
              </a:rPr>
              <a:t>•  Core workflow live end-to-end</a:t>
            </a:r>
          </a:p>
          <a:p>
            <a:pPr>
              <a:spcAft>
                <a:spcPts val="600"/>
              </a:spcAft>
            </a:pPr>
            <a:r>
              <a:rPr sz="1250" dirty="0">
                <a:solidFill>
                  <a:srgbClr val="141414"/>
                </a:solidFill>
                <a:latin typeface="Arial"/>
              </a:rPr>
              <a:t>•  Role-based access:</a:t>
            </a:r>
            <a:r>
              <a:rPr lang="en-IN" sz="1250" dirty="0">
                <a:solidFill>
                  <a:srgbClr val="141414"/>
                </a:solidFill>
                <a:latin typeface="Arial"/>
              </a:rPr>
              <a:t> </a:t>
            </a:r>
            <a:r>
              <a:rPr sz="1250" dirty="0">
                <a:solidFill>
                  <a:srgbClr val="141414"/>
                </a:solidFill>
                <a:latin typeface="Arial"/>
              </a:rPr>
              <a:t>Engineer/Manager</a:t>
            </a:r>
            <a:r>
              <a:rPr lang="en-IN" sz="1250" dirty="0">
                <a:solidFill>
                  <a:srgbClr val="141414"/>
                </a:solidFill>
                <a:latin typeface="Arial"/>
              </a:rPr>
              <a:t>/</a:t>
            </a:r>
            <a:r>
              <a:rPr sz="1250" dirty="0">
                <a:solidFill>
                  <a:srgbClr val="141414"/>
                </a:solidFill>
                <a:latin typeface="Arial"/>
              </a:rPr>
              <a:t>Admin</a:t>
            </a:r>
          </a:p>
          <a:p>
            <a:pPr>
              <a:spcAft>
                <a:spcPts val="600"/>
              </a:spcAft>
            </a:pPr>
            <a:r>
              <a:rPr sz="1250" dirty="0">
                <a:solidFill>
                  <a:srgbClr val="141414"/>
                </a:solidFill>
                <a:latin typeface="Arial"/>
              </a:rPr>
              <a:t>•  AI progress reports (PDF) added</a:t>
            </a:r>
          </a:p>
          <a:p>
            <a:pPr>
              <a:spcAft>
                <a:spcPts val="600"/>
              </a:spcAft>
            </a:pPr>
            <a:r>
              <a:rPr sz="1250" dirty="0">
                <a:solidFill>
                  <a:srgbClr val="141414"/>
                </a:solidFill>
                <a:latin typeface="Arial"/>
              </a:rPr>
              <a:t>•  Refining panorama stitch quality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256032" y="256032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1734495" y="256032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6032" y="6400800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734495" y="6400800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2920" y="29260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B3121B"/>
                </a:solidFill>
                <a:latin typeface="Consolas"/>
              </a:rPr>
              <a:t>SITEVISION  </a:t>
            </a:r>
            <a:r>
              <a:rPr sz="1100">
                <a:solidFill>
                  <a:srgbClr val="6B6664"/>
                </a:solidFill>
                <a:latin typeface="Consolas"/>
              </a:rPr>
              <a:t>· by SiteSureLabs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80779" y="292608"/>
            <a:ext cx="110799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dirty="0">
                <a:solidFill>
                  <a:srgbClr val="6B6664"/>
                </a:solidFill>
                <a:latin typeface="Consolas"/>
              </a:rPr>
              <a:t>HOW IT WORKS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914400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3121B"/>
                </a:solidFill>
                <a:latin typeface="Consolas"/>
              </a:rPr>
              <a:t>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234440"/>
            <a:ext cx="1118585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dirty="0">
                <a:solidFill>
                  <a:srgbClr val="141414"/>
                </a:solidFill>
                <a:latin typeface="Arial"/>
              </a:rPr>
              <a:t>Plan → Pin → Capture → Publish → </a:t>
            </a:r>
            <a:r>
              <a:rPr lang="en-IN" sz="3000" b="1" dirty="0">
                <a:solidFill>
                  <a:srgbClr val="141414"/>
                </a:solidFill>
                <a:latin typeface="Arial"/>
              </a:rPr>
              <a:t>View</a:t>
            </a:r>
            <a:endParaRPr sz="3000" b="1" dirty="0">
              <a:solidFill>
                <a:srgbClr val="141414"/>
              </a:solidFill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2920" y="19659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B6664"/>
                </a:solidFill>
                <a:latin typeface="Arial"/>
              </a:rPr>
              <a:t>One continuous pipeline, from a blank floor plan to a walkthrough anyone can open in a browser.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463" y="2834640"/>
            <a:ext cx="19171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B3121B"/>
                </a:solidFill>
                <a:latin typeface="Consolas"/>
              </a:rPr>
              <a:t>01</a:t>
            </a:r>
          </a:p>
        </p:txBody>
      </p:sp>
      <p:sp>
        <p:nvSpPr>
          <p:cNvPr id="22" name="Oval 21"/>
          <p:cNvSpPr/>
          <p:nvPr/>
        </p:nvSpPr>
        <p:spPr>
          <a:xfrm>
            <a:off x="619463" y="3154680"/>
            <a:ext cx="50292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B3121B"/>
                </a:solidFill>
              </a:rPr>
              <a:t>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1886" y="3794760"/>
            <a:ext cx="19171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141414"/>
                </a:solidFill>
                <a:latin typeface="Arial"/>
              </a:rPr>
              <a:t>Upload Floor 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886" y="4206240"/>
            <a:ext cx="1917131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6B6664"/>
                </a:solidFill>
                <a:latin typeface="Arial"/>
              </a:rPr>
              <a:t>Engineer uploads the plan for a tower &amp; floor.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2465" y="325419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DDDAD6"/>
                </a:solidFill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6634" y="2834640"/>
            <a:ext cx="19171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B3121B"/>
                </a:solidFill>
                <a:latin typeface="Consolas"/>
              </a:rPr>
              <a:t>02</a:t>
            </a:r>
          </a:p>
        </p:txBody>
      </p:sp>
      <p:sp>
        <p:nvSpPr>
          <p:cNvPr id="27" name="Oval 26"/>
          <p:cNvSpPr/>
          <p:nvPr/>
        </p:nvSpPr>
        <p:spPr>
          <a:xfrm>
            <a:off x="2856634" y="3154680"/>
            <a:ext cx="50292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B3121B"/>
                </a:solidFill>
              </a:rPr>
              <a:t>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9057" y="3794760"/>
            <a:ext cx="19171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141414"/>
                </a:solidFill>
                <a:latin typeface="Arial"/>
              </a:rPr>
              <a:t>Place Pins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9057" y="4206240"/>
            <a:ext cx="1917131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6B6664"/>
                </a:solidFill>
                <a:latin typeface="Arial"/>
              </a:rPr>
              <a:t>Mark capture points — sets the walkthrough order.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59636" y="325419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DDDAD6"/>
                </a:solidFill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93805" y="2834640"/>
            <a:ext cx="19171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B3121B"/>
                </a:solidFill>
                <a:latin typeface="Consolas"/>
              </a:rPr>
              <a:t>03</a:t>
            </a:r>
          </a:p>
        </p:txBody>
      </p:sp>
      <p:sp>
        <p:nvSpPr>
          <p:cNvPr id="32" name="Oval 31"/>
          <p:cNvSpPr/>
          <p:nvPr/>
        </p:nvSpPr>
        <p:spPr>
          <a:xfrm>
            <a:off x="5093805" y="3154680"/>
            <a:ext cx="50292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B3121B"/>
                </a:solidFill>
              </a:rPr>
              <a:t>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86228" y="3794760"/>
            <a:ext cx="19171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141414"/>
                </a:solidFill>
                <a:latin typeface="Arial"/>
              </a:rPr>
              <a:t>Capture Photos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86228" y="4206240"/>
            <a:ext cx="1917131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dirty="0">
                <a:solidFill>
                  <a:srgbClr val="6B6664"/>
                </a:solidFill>
                <a:latin typeface="Arial"/>
              </a:rPr>
              <a:t>360°/fisheye shots at each pin — mobile or upload.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96807" y="325419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DDDAD6"/>
                </a:solidFill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30976" y="2834640"/>
            <a:ext cx="19171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B3121B"/>
                </a:solidFill>
                <a:latin typeface="Consolas"/>
              </a:rPr>
              <a:t>04</a:t>
            </a:r>
          </a:p>
        </p:txBody>
      </p:sp>
      <p:sp>
        <p:nvSpPr>
          <p:cNvPr id="37" name="Oval 36"/>
          <p:cNvSpPr/>
          <p:nvPr/>
        </p:nvSpPr>
        <p:spPr>
          <a:xfrm>
            <a:off x="7330976" y="3154680"/>
            <a:ext cx="50292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B3121B"/>
                </a:solidFill>
              </a:rPr>
              <a:t>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399" y="3794760"/>
            <a:ext cx="19171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141414"/>
                </a:solidFill>
                <a:latin typeface="Arial"/>
              </a:rPr>
              <a:t>Auto-Stitch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399" y="4206240"/>
            <a:ext cx="1917131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dirty="0">
                <a:solidFill>
                  <a:srgbClr val="6B6664"/>
                </a:solidFill>
                <a:latin typeface="Arial"/>
              </a:rPr>
              <a:t>Backend blends fisheye frames into one panorama.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33978" y="325419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DDDAD6"/>
                </a:solidFill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68147" y="2834640"/>
            <a:ext cx="19171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B3121B"/>
                </a:solidFill>
                <a:latin typeface="Consolas"/>
              </a:rPr>
              <a:t>05</a:t>
            </a:r>
          </a:p>
        </p:txBody>
      </p:sp>
      <p:sp>
        <p:nvSpPr>
          <p:cNvPr id="42" name="Oval 41"/>
          <p:cNvSpPr/>
          <p:nvPr/>
        </p:nvSpPr>
        <p:spPr>
          <a:xfrm>
            <a:off x="9568147" y="3154680"/>
            <a:ext cx="50292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B3121B"/>
                </a:solidFill>
              </a:rPr>
              <a:t>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60570" y="3794760"/>
            <a:ext cx="19171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dirty="0">
                <a:solidFill>
                  <a:srgbClr val="141414"/>
                </a:solidFill>
                <a:latin typeface="Arial"/>
              </a:rPr>
              <a:t>Publish &amp; Browse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60570" y="4206240"/>
            <a:ext cx="1917131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6B6664"/>
                </a:solidFill>
                <a:latin typeface="Arial"/>
              </a:rPr>
              <a:t>Tour goes live — Pin 1 → Pin 2 → … in 360°.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165" y="0"/>
            <a:ext cx="12608061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256032" y="256032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1734495" y="256032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56032" y="6400800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734495" y="6400800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2920" y="29260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B3121B"/>
                </a:solidFill>
                <a:latin typeface="Consolas"/>
              </a:rPr>
              <a:t>SITEVISION  </a:t>
            </a:r>
            <a:r>
              <a:rPr sz="1100">
                <a:solidFill>
                  <a:srgbClr val="6B6664"/>
                </a:solidFill>
                <a:latin typeface="Consolas"/>
              </a:rPr>
              <a:t>· by SiteSureLabs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19115" y="292608"/>
            <a:ext cx="156966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dirty="0">
                <a:solidFill>
                  <a:srgbClr val="6B6664"/>
                </a:solidFill>
                <a:latin typeface="Consolas"/>
              </a:rPr>
              <a:t>CURRENT EXPERIENCE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914400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3121B"/>
                </a:solidFill>
                <a:latin typeface="Consolas"/>
              </a:rPr>
              <a:t>SCREENS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234440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b="1">
                <a:solidFill>
                  <a:srgbClr val="141414"/>
                </a:solidFill>
                <a:latin typeface="Arial"/>
              </a:rPr>
              <a:t>What it looks like today</a:t>
            </a:r>
            <a:endParaRPr lang="en-IN" sz="3000" b="1" dirty="0">
              <a:solidFill>
                <a:srgbClr val="141414"/>
              </a:solidFill>
              <a:latin typeface="Arial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02920" y="2285999"/>
            <a:ext cx="3703320" cy="2423161"/>
          </a:xfrm>
          <a:prstGeom prst="rect">
            <a:avLst/>
          </a:prstGeom>
          <a:solidFill>
            <a:srgbClr val="FFFFFF"/>
          </a:solidFill>
          <a:ln w="15875">
            <a:solidFill>
              <a:srgbClr val="141414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IN" sz="2800" dirty="0">
                <a:solidFill>
                  <a:srgbClr val="B3121B"/>
                </a:solidFill>
              </a:rPr>
              <a:t>▦</a:t>
            </a:r>
          </a:p>
          <a:p>
            <a:pPr algn="ctr">
              <a:spcBef>
                <a:spcPts val="800"/>
              </a:spcBef>
            </a:pPr>
            <a:r>
              <a:rPr sz="1300" b="1" dirty="0">
                <a:solidFill>
                  <a:srgbClr val="141414"/>
                </a:solidFill>
                <a:latin typeface="Arial"/>
              </a:rPr>
              <a:t>Floor plan + pins</a:t>
            </a:r>
          </a:p>
          <a:p>
            <a:pPr algn="ctr"/>
            <a:r>
              <a:rPr sz="1050" dirty="0">
                <a:solidFill>
                  <a:srgbClr val="6B6664"/>
                </a:solidFill>
                <a:latin typeface="Arial"/>
              </a:rPr>
              <a:t>drop in screenshot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2978" y="2286000"/>
            <a:ext cx="3703320" cy="2423160"/>
          </a:xfrm>
          <a:prstGeom prst="rect">
            <a:avLst/>
          </a:prstGeom>
          <a:solidFill>
            <a:srgbClr val="FFFFFF"/>
          </a:solidFill>
          <a:ln w="15875">
            <a:solidFill>
              <a:srgbClr val="141414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dirty="0">
                <a:solidFill>
                  <a:srgbClr val="B3121B"/>
                </a:solidFill>
              </a:rPr>
              <a:t>◐</a:t>
            </a:r>
          </a:p>
          <a:p>
            <a:pPr algn="ctr">
              <a:spcBef>
                <a:spcPts val="800"/>
              </a:spcBef>
            </a:pPr>
            <a:r>
              <a:rPr sz="1300" b="1" dirty="0">
                <a:solidFill>
                  <a:srgbClr val="141414"/>
                </a:solidFill>
                <a:latin typeface="Arial"/>
              </a:rPr>
              <a:t>360° panorama viewer</a:t>
            </a:r>
          </a:p>
          <a:p>
            <a:pPr algn="ctr"/>
            <a:r>
              <a:rPr sz="1050" dirty="0">
                <a:solidFill>
                  <a:srgbClr val="6B6664"/>
                </a:solidFill>
                <a:latin typeface="Arial"/>
              </a:rPr>
              <a:t>drop in screenshot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43036" y="2285999"/>
            <a:ext cx="3703320" cy="2423161"/>
          </a:xfrm>
          <a:prstGeom prst="rect">
            <a:avLst/>
          </a:prstGeom>
          <a:solidFill>
            <a:srgbClr val="FFFFFF"/>
          </a:solidFill>
          <a:ln w="15875">
            <a:solidFill>
              <a:srgbClr val="141414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dirty="0">
                <a:solidFill>
                  <a:srgbClr val="B3121B"/>
                </a:solidFill>
              </a:rPr>
              <a:t>▤</a:t>
            </a:r>
          </a:p>
          <a:p>
            <a:pPr algn="ctr">
              <a:spcBef>
                <a:spcPts val="800"/>
              </a:spcBef>
            </a:pPr>
            <a:r>
              <a:rPr sz="1300" b="1" dirty="0">
                <a:solidFill>
                  <a:srgbClr val="141414"/>
                </a:solidFill>
                <a:latin typeface="Arial"/>
              </a:rPr>
              <a:t>Virtual Tours listing</a:t>
            </a:r>
          </a:p>
          <a:p>
            <a:pPr algn="ctr"/>
            <a:r>
              <a:rPr sz="1050" dirty="0">
                <a:solidFill>
                  <a:srgbClr val="6B6664"/>
                </a:solidFill>
                <a:latin typeface="Arial"/>
              </a:rPr>
              <a:t>drop in screenshot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19" y="5602942"/>
            <a:ext cx="11185855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1100" b="1" dirty="0">
                <a:solidFill>
                  <a:srgbClr val="B3121B"/>
                </a:solidFill>
                <a:latin typeface="Consolas"/>
              </a:rPr>
              <a:t>ACCESS   </a:t>
            </a:r>
            <a:r>
              <a:rPr sz="1150" dirty="0">
                <a:solidFill>
                  <a:srgbClr val="6B6664"/>
                </a:solidFill>
                <a:latin typeface="Consolas"/>
              </a:rPr>
              <a:t>http://</a:t>
            </a:r>
            <a:r>
              <a:rPr lang="en-IN" sz="1150" dirty="0">
                <a:solidFill>
                  <a:srgbClr val="6B6664"/>
                </a:solidFill>
                <a:latin typeface="Consolas"/>
              </a:rPr>
              <a:t>172.20.7.22:5174/</a:t>
            </a:r>
            <a:endParaRPr sz="1150" dirty="0">
              <a:solidFill>
                <a:srgbClr val="6B6664"/>
              </a:solidFill>
              <a:latin typeface="Consolas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747F52F-A324-4B90-A2AA-4DB4DB77E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489" y="2346961"/>
            <a:ext cx="3567414" cy="228360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13FAE1E-EA5F-4A4E-8DF4-1244412AD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4130" y="2349517"/>
            <a:ext cx="3567068" cy="228360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56532D-031B-4710-B502-DFB95696DF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114" y="2345616"/>
            <a:ext cx="3594166" cy="2283242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095B2E6-5683-4EB2-B298-D3ACD6AA463D}"/>
              </a:ext>
            </a:extLst>
          </p:cNvPr>
          <p:cNvSpPr txBox="1"/>
          <p:nvPr/>
        </p:nvSpPr>
        <p:spPr>
          <a:xfrm>
            <a:off x="1229060" y="4663440"/>
            <a:ext cx="2329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Capture Workflow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70147A3-0C0F-4B70-9BA0-9BA81A24F713}"/>
              </a:ext>
            </a:extLst>
          </p:cNvPr>
          <p:cNvSpPr txBox="1"/>
          <p:nvPr/>
        </p:nvSpPr>
        <p:spPr>
          <a:xfrm>
            <a:off x="8647451" y="4689171"/>
            <a:ext cx="2536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360</a:t>
            </a:r>
            <a:r>
              <a:rPr lang="en-IN" baseline="30000" dirty="0"/>
              <a:t>0</a:t>
            </a:r>
            <a:r>
              <a:rPr lang="en-IN" dirty="0"/>
              <a:t> Virtual Tours Viewer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0D2017-2E28-460A-868C-492150035D62}"/>
              </a:ext>
            </a:extLst>
          </p:cNvPr>
          <p:cNvSpPr txBox="1"/>
          <p:nvPr/>
        </p:nvSpPr>
        <p:spPr>
          <a:xfrm>
            <a:off x="5371054" y="4698851"/>
            <a:ext cx="1407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Virtual Tours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285</Words>
  <Application>Microsoft Office PowerPoint</Application>
  <PresentationFormat>Widescreen</PresentationFormat>
  <Paragraphs>64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V K A Srivarshini Neralla</cp:lastModifiedBy>
  <cp:revision>16</cp:revision>
  <dcterms:created xsi:type="dcterms:W3CDTF">2013-01-27T09:14:16Z</dcterms:created>
  <dcterms:modified xsi:type="dcterms:W3CDTF">2026-07-17T10:58:13Z</dcterms:modified>
  <cp:category/>
</cp:coreProperties>
</file>